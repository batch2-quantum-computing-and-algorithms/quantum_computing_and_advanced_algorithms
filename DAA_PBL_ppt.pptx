
<file path=[Content_Types].xml><?xml version="1.0" encoding="utf-8"?>
<Types xmlns="http://schemas.openxmlformats.org/package/2006/content-types">
  <Default Extension="bmp" ContentType="image/bmp"/>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47" d="100"/>
          <a:sy n="47" d="100"/>
        </p:scale>
        <p:origin x="53" y="7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FC469D57-C424-4445-8DEE-FBE6D99A1C62}" type="datetimeFigureOut">
              <a:rPr lang="en-IN" smtClean="0"/>
              <a:t>01-04-2026</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909163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3000302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FC469D57-C424-4445-8DEE-FBE6D99A1C62}" type="datetimeFigureOut">
              <a:rPr lang="en-IN" smtClean="0"/>
              <a:t>01-04-2026</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1633851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2443826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3556614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3985079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2477554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BB7441C7-B270-4843-A7F2-88B25E6DB48F}"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03540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FC469D57-C424-4445-8DEE-FBE6D99A1C62}" type="datetimeFigureOut">
              <a:rPr lang="en-IN" smtClean="0"/>
              <a:t>01-04-2026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1661827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67527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C469D57-C424-4445-8DEE-FBE6D99A1C62}" type="datetimeFigureOut">
              <a:rPr lang="en-IN" smtClean="0"/>
              <a:t>01-04-2026</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4075709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FC469D57-C424-4445-8DEE-FBE6D99A1C62}" type="datetimeFigureOut">
              <a:rPr lang="en-IN" smtClean="0"/>
              <a:t>01-04-2026</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BB7441C7-B270-4843-A7F2-88B25E6DB48F}" type="slidenum">
              <a:rPr lang="en-IN" smtClean="0"/>
              <a:t>‹#›</a:t>
            </a:fld>
            <a:endParaRPr lang="en-IN"/>
          </a:p>
        </p:txBody>
      </p:sp>
    </p:spTree>
    <p:extLst>
      <p:ext uri="{BB962C8B-B14F-4D97-AF65-F5344CB8AC3E}">
        <p14:creationId xmlns:p14="http://schemas.microsoft.com/office/powerpoint/2010/main" val="1305544146"/>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0C9F-C54D-859A-468D-738B6D49B8BB}"/>
              </a:ext>
            </a:extLst>
          </p:cNvPr>
          <p:cNvSpPr>
            <a:spLocks noGrp="1"/>
          </p:cNvSpPr>
          <p:nvPr>
            <p:ph type="ctrTitle"/>
          </p:nvPr>
        </p:nvSpPr>
        <p:spPr>
          <a:xfrm>
            <a:off x="2226128" y="2563585"/>
            <a:ext cx="7739743" cy="2139042"/>
          </a:xfrm>
        </p:spPr>
        <p:txBody>
          <a:bodyPr/>
          <a:lstStyle/>
          <a:p>
            <a:r>
              <a:rPr lang="en-US" sz="5400" dirty="0"/>
              <a:t>Quantum computing and advanced algorithms</a:t>
            </a:r>
            <a:r>
              <a:rPr lang="en-US" dirty="0"/>
              <a:t> </a:t>
            </a:r>
            <a:endParaRPr lang="en-IN" dirty="0"/>
          </a:p>
        </p:txBody>
      </p:sp>
      <p:sp>
        <p:nvSpPr>
          <p:cNvPr id="5" name="TextBox 4">
            <a:extLst>
              <a:ext uri="{FF2B5EF4-FFF2-40B4-BE49-F238E27FC236}">
                <a16:creationId xmlns:a16="http://schemas.microsoft.com/office/drawing/2014/main" id="{46F1A5BD-FED2-DB19-E217-5B9CC36185D0}"/>
              </a:ext>
            </a:extLst>
          </p:cNvPr>
          <p:cNvSpPr txBox="1"/>
          <p:nvPr/>
        </p:nvSpPr>
        <p:spPr>
          <a:xfrm>
            <a:off x="7592785" y="5657671"/>
            <a:ext cx="4746171" cy="1200329"/>
          </a:xfrm>
          <a:prstGeom prst="rect">
            <a:avLst/>
          </a:prstGeom>
          <a:noFill/>
        </p:spPr>
        <p:txBody>
          <a:bodyPr wrap="square" rtlCol="0">
            <a:spAutoFit/>
          </a:bodyPr>
          <a:lstStyle/>
          <a:p>
            <a:r>
              <a:rPr lang="en-US" sz="2400" dirty="0">
                <a:solidFill>
                  <a:schemeClr val="bg1"/>
                </a:solidFill>
                <a:highlight>
                  <a:srgbClr val="00FFFF"/>
                </a:highlight>
              </a:rPr>
              <a:t>24R11A6231-P.Ileen Jasmine</a:t>
            </a:r>
          </a:p>
          <a:p>
            <a:r>
              <a:rPr lang="en-US" sz="2400" dirty="0">
                <a:solidFill>
                  <a:schemeClr val="bg1"/>
                </a:solidFill>
                <a:highlight>
                  <a:srgbClr val="00FFFF"/>
                </a:highlight>
              </a:rPr>
              <a:t>24R11A6233-P.Pranitha</a:t>
            </a:r>
          </a:p>
          <a:p>
            <a:r>
              <a:rPr lang="en-US" sz="2400" dirty="0">
                <a:solidFill>
                  <a:schemeClr val="bg1"/>
                </a:solidFill>
                <a:highlight>
                  <a:srgbClr val="00FFFF"/>
                </a:highlight>
              </a:rPr>
              <a:t>24R11A6234-R.Srivarsha</a:t>
            </a:r>
            <a:endParaRPr lang="en-IN" sz="2400" dirty="0">
              <a:solidFill>
                <a:schemeClr val="bg1"/>
              </a:solidFill>
              <a:highlight>
                <a:srgbClr val="00FFFF"/>
              </a:highlight>
            </a:endParaRPr>
          </a:p>
        </p:txBody>
      </p:sp>
      <p:sp>
        <p:nvSpPr>
          <p:cNvPr id="6" name="TextBox 5">
            <a:extLst>
              <a:ext uri="{FF2B5EF4-FFF2-40B4-BE49-F238E27FC236}">
                <a16:creationId xmlns:a16="http://schemas.microsoft.com/office/drawing/2014/main" id="{43950DEB-48E3-DCD2-3F81-F3F3B7DAC9FE}"/>
              </a:ext>
            </a:extLst>
          </p:cNvPr>
          <p:cNvSpPr txBox="1"/>
          <p:nvPr/>
        </p:nvSpPr>
        <p:spPr>
          <a:xfrm>
            <a:off x="653143" y="6155871"/>
            <a:ext cx="4229100" cy="523220"/>
          </a:xfrm>
          <a:prstGeom prst="rect">
            <a:avLst/>
          </a:prstGeom>
          <a:noFill/>
        </p:spPr>
        <p:txBody>
          <a:bodyPr wrap="square" rtlCol="0">
            <a:spAutoFit/>
          </a:bodyPr>
          <a:lstStyle/>
          <a:p>
            <a:r>
              <a:rPr lang="en-US" sz="2800" dirty="0">
                <a:solidFill>
                  <a:schemeClr val="tx2">
                    <a:lumMod val="10000"/>
                  </a:schemeClr>
                </a:solidFill>
                <a:highlight>
                  <a:srgbClr val="00FFFF"/>
                </a:highlight>
              </a:rPr>
              <a:t>CYBER SECURITY - A</a:t>
            </a:r>
            <a:endParaRPr lang="en-IN" sz="2800" dirty="0">
              <a:solidFill>
                <a:schemeClr val="tx2">
                  <a:lumMod val="10000"/>
                </a:schemeClr>
              </a:solidFill>
              <a:highlight>
                <a:srgbClr val="00FFFF"/>
              </a:highlight>
            </a:endParaRPr>
          </a:p>
        </p:txBody>
      </p:sp>
    </p:spTree>
    <p:extLst>
      <p:ext uri="{BB962C8B-B14F-4D97-AF65-F5344CB8AC3E}">
        <p14:creationId xmlns:p14="http://schemas.microsoft.com/office/powerpoint/2010/main" val="1269192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F7EA-85BB-8C8A-0BA0-FEBEFEA07B22}"/>
              </a:ext>
            </a:extLst>
          </p:cNvPr>
          <p:cNvSpPr>
            <a:spLocks noGrp="1"/>
          </p:cNvSpPr>
          <p:nvPr>
            <p:ph type="title"/>
          </p:nvPr>
        </p:nvSpPr>
        <p:spPr>
          <a:xfrm>
            <a:off x="4155621" y="294795"/>
            <a:ext cx="3880757" cy="875963"/>
          </a:xfrm>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FF8201CF-97E7-AAE4-3145-385EEF17308C}"/>
              </a:ext>
            </a:extLst>
          </p:cNvPr>
          <p:cNvSpPr>
            <a:spLocks noGrp="1"/>
          </p:cNvSpPr>
          <p:nvPr>
            <p:ph idx="1"/>
          </p:nvPr>
        </p:nvSpPr>
        <p:spPr>
          <a:xfrm>
            <a:off x="473529" y="1170758"/>
            <a:ext cx="10809514" cy="5230042"/>
          </a:xfrm>
        </p:spPr>
        <p:txBody>
          <a:bodyPr>
            <a:noAutofit/>
          </a:bodyPr>
          <a:lstStyle/>
          <a:p>
            <a:r>
              <a:rPr lang="en-US" sz="2400" dirty="0"/>
              <a:t>The field of algorithm design is undergoing a significant transformation due to the rapid growth of computational demands and emerging technologies. Traditional algorithms, while effective for many applications, are increasingly challenged by problems involving massive datasets, complex optimizations, and exponential time complexity. Quantum computing offers a revolutionary approach by leveraging the principles of quantum mechanics, such as superposition and entanglement, to process information in fundamentally new ways. Alongside this, advanced classical algorithms—such as parallel, distributed, and machine learning-based techniques—are also evolving to meet modern requirements. This report examines the future of algorithm design, focusing on how quantum and advanced algorithms address current limitations, their architecture, implementation, testing strategies, challenges, and long-term potential.</a:t>
            </a:r>
            <a:endParaRPr lang="en-IN" sz="2400" dirty="0"/>
          </a:p>
        </p:txBody>
      </p:sp>
    </p:spTree>
    <p:extLst>
      <p:ext uri="{BB962C8B-B14F-4D97-AF65-F5344CB8AC3E}">
        <p14:creationId xmlns:p14="http://schemas.microsoft.com/office/powerpoint/2010/main" val="3569467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3F14-A4EC-5BEF-75D8-144BDA3853AC}"/>
              </a:ext>
            </a:extLst>
          </p:cNvPr>
          <p:cNvSpPr>
            <a:spLocks noGrp="1"/>
          </p:cNvSpPr>
          <p:nvPr>
            <p:ph type="title"/>
          </p:nvPr>
        </p:nvSpPr>
        <p:spPr>
          <a:xfrm>
            <a:off x="3412671" y="250709"/>
            <a:ext cx="10058400" cy="1371600"/>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1395D85D-DDAB-7719-7C51-3D344E2444EF}"/>
              </a:ext>
            </a:extLst>
          </p:cNvPr>
          <p:cNvSpPr>
            <a:spLocks noGrp="1"/>
          </p:cNvSpPr>
          <p:nvPr>
            <p:ph idx="1"/>
          </p:nvPr>
        </p:nvSpPr>
        <p:spPr>
          <a:xfrm>
            <a:off x="1066799" y="1276142"/>
            <a:ext cx="10346871" cy="4945043"/>
          </a:xfrm>
        </p:spPr>
        <p:txBody>
          <a:bodyPr>
            <a:noAutofit/>
          </a:bodyPr>
          <a:lstStyle/>
          <a:p>
            <a:r>
              <a:rPr lang="en-US" sz="2000" dirty="0"/>
              <a:t>Algorithms form the foundation of all computational systems, enabling efficient problem-solving across domains such as data processing, artificial intelligence, and scientific research. Over time, algorithm design has evolved from simple iterative methods to highly optimized and specialized techniques. However, with the explosion of big data and the increasing need for real-time processing, classical algorithms are often insufficient for solving highly complex or large-scale problems efficiently.</a:t>
            </a:r>
          </a:p>
          <a:p>
            <a:r>
              <a:rPr lang="en-US" sz="2000" dirty="0"/>
              <a:t>Quantum computing introduces a paradigm shift in computation. Unlike classical systems that use bits (0 or 1), quantum systems use qubits, which can exist in multiple states simultaneously due to superposition. This allows quantum computers to explore many possible solutions at once. Furthermore, phenomena such as entanglement enable correlations between qubits that can be exploited for faster computations. As a result, algorithm design is moving toward integrating quantum principles with classical efficiency to create more powerful solutions.</a:t>
            </a:r>
            <a:endParaRPr lang="en-IN" sz="2000" dirty="0"/>
          </a:p>
        </p:txBody>
      </p:sp>
    </p:spTree>
    <p:extLst>
      <p:ext uri="{BB962C8B-B14F-4D97-AF65-F5344CB8AC3E}">
        <p14:creationId xmlns:p14="http://schemas.microsoft.com/office/powerpoint/2010/main" val="1781434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19140-8FF7-BE2E-DA29-14D825911502}"/>
              </a:ext>
            </a:extLst>
          </p:cNvPr>
          <p:cNvSpPr>
            <a:spLocks noGrp="1"/>
          </p:cNvSpPr>
          <p:nvPr>
            <p:ph type="title"/>
          </p:nvPr>
        </p:nvSpPr>
        <p:spPr>
          <a:xfrm>
            <a:off x="2111829" y="564593"/>
            <a:ext cx="9269186" cy="777992"/>
          </a:xfrm>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DD77D7CE-0ED9-FE38-7DEA-406CD3B12811}"/>
              </a:ext>
            </a:extLst>
          </p:cNvPr>
          <p:cNvSpPr>
            <a:spLocks noGrp="1"/>
          </p:cNvSpPr>
          <p:nvPr>
            <p:ph idx="1"/>
          </p:nvPr>
        </p:nvSpPr>
        <p:spPr>
          <a:xfrm>
            <a:off x="1088572" y="1463040"/>
            <a:ext cx="10521043" cy="3931920"/>
          </a:xfrm>
        </p:spPr>
        <p:txBody>
          <a:bodyPr>
            <a:noAutofit/>
          </a:bodyPr>
          <a:lstStyle/>
          <a:p>
            <a:r>
              <a:rPr lang="en-US" sz="2400" dirty="0"/>
              <a:t>Modern computational problems are becoming increasingly difficult to solve using traditional approaches. For example, cryptographic systems rely on the difficulty of factorizing large numbers, which can take an impractical amount of time for classical computers. Similarly, optimization problems like route planning or resource allocation grow exponentially with input size, making them computationally expensive. Another major challenge lies in scientific simulations, such as modeling molecular interactions or quantum systems, which require immense computational power. Additionally, searching large unstructured datasets and processing real-time data streams pose significant limitations for classical algorithms. These challenges highlight the need for new algorithmic approaches that can provide faster computation, better scalability, and improved efficiency.</a:t>
            </a:r>
            <a:endParaRPr lang="en-IN" sz="2400" dirty="0"/>
          </a:p>
        </p:txBody>
      </p:sp>
    </p:spTree>
    <p:extLst>
      <p:ext uri="{BB962C8B-B14F-4D97-AF65-F5344CB8AC3E}">
        <p14:creationId xmlns:p14="http://schemas.microsoft.com/office/powerpoint/2010/main" val="1673210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2D05D-7A4F-4B85-D880-7E9EAED0988F}"/>
              </a:ext>
            </a:extLst>
          </p:cNvPr>
          <p:cNvSpPr>
            <a:spLocks noGrp="1"/>
          </p:cNvSpPr>
          <p:nvPr>
            <p:ph type="title"/>
          </p:nvPr>
        </p:nvSpPr>
        <p:spPr>
          <a:xfrm>
            <a:off x="2558143" y="577280"/>
            <a:ext cx="8567057" cy="810649"/>
          </a:xfrm>
        </p:spPr>
        <p:txBody>
          <a:bodyPr/>
          <a:lstStyle/>
          <a:p>
            <a:r>
              <a:rPr lang="en-US" dirty="0"/>
              <a:t>ALGORITHM USED </a:t>
            </a:r>
            <a:endParaRPr lang="en-IN" dirty="0"/>
          </a:p>
        </p:txBody>
      </p:sp>
      <p:sp>
        <p:nvSpPr>
          <p:cNvPr id="3" name="Content Placeholder 2">
            <a:extLst>
              <a:ext uri="{FF2B5EF4-FFF2-40B4-BE49-F238E27FC236}">
                <a16:creationId xmlns:a16="http://schemas.microsoft.com/office/drawing/2014/main" id="{4D708D3A-1773-643F-44D1-2743D16CA3E4}"/>
              </a:ext>
            </a:extLst>
          </p:cNvPr>
          <p:cNvSpPr>
            <a:spLocks noGrp="1"/>
          </p:cNvSpPr>
          <p:nvPr>
            <p:ph idx="1"/>
          </p:nvPr>
        </p:nvSpPr>
        <p:spPr>
          <a:xfrm>
            <a:off x="1066800" y="1463040"/>
            <a:ext cx="10058400" cy="3931920"/>
          </a:xfrm>
        </p:spPr>
        <p:txBody>
          <a:bodyPr>
            <a:noAutofit/>
          </a:bodyPr>
          <a:lstStyle/>
          <a:p>
            <a:r>
              <a:rPr lang="en-US" sz="2400" dirty="0"/>
              <a:t>Advanced algorithm design includes both improved classical techniques and entirely new quantum algorithms. Classical approaches such as divide and conquer break problems into smaller subproblems, making them easier to solve efficiently. Dynamic programming avoids redundant computations by storing intermediate results, significantly improving performance in problems like optimization and sequence analysis.</a:t>
            </a:r>
          </a:p>
          <a:p>
            <a:r>
              <a:rPr lang="en-US" sz="2400" dirty="0"/>
              <a:t>Quantum algorithms, on the other hand, introduce a completely new approach.</a:t>
            </a:r>
          </a:p>
          <a:p>
            <a:r>
              <a:rPr lang="en-US" sz="2400" dirty="0"/>
              <a:t>Grover’s algorithm provides a quadratic speedup for searching unsorted datasets, making it significantly faster than classical methods.</a:t>
            </a:r>
            <a:endParaRPr lang="en-IN" sz="2400" dirty="0"/>
          </a:p>
        </p:txBody>
      </p:sp>
    </p:spTree>
    <p:extLst>
      <p:ext uri="{BB962C8B-B14F-4D97-AF65-F5344CB8AC3E}">
        <p14:creationId xmlns:p14="http://schemas.microsoft.com/office/powerpoint/2010/main" val="3742074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DEF3B-A2D2-089F-EDB1-819D6DC0B856}"/>
              </a:ext>
            </a:extLst>
          </p:cNvPr>
          <p:cNvSpPr>
            <a:spLocks noGrp="1"/>
          </p:cNvSpPr>
          <p:nvPr>
            <p:ph type="title"/>
          </p:nvPr>
        </p:nvSpPr>
        <p:spPr/>
        <p:txBody>
          <a:bodyPr/>
          <a:lstStyle/>
          <a:p>
            <a:r>
              <a:rPr lang="en-US" dirty="0"/>
              <a:t>Grover’s Algorithm </a:t>
            </a:r>
            <a:endParaRPr lang="en-IN" dirty="0"/>
          </a:p>
        </p:txBody>
      </p:sp>
      <p:sp>
        <p:nvSpPr>
          <p:cNvPr id="3" name="Content Placeholder 2">
            <a:extLst>
              <a:ext uri="{FF2B5EF4-FFF2-40B4-BE49-F238E27FC236}">
                <a16:creationId xmlns:a16="http://schemas.microsoft.com/office/drawing/2014/main" id="{42152B32-BEDE-1018-BF92-CB5E36BA9763}"/>
              </a:ext>
            </a:extLst>
          </p:cNvPr>
          <p:cNvSpPr>
            <a:spLocks noGrp="1"/>
          </p:cNvSpPr>
          <p:nvPr>
            <p:ph idx="1"/>
          </p:nvPr>
        </p:nvSpPr>
        <p:spPr>
          <a:xfrm>
            <a:off x="1066800" y="1776549"/>
            <a:ext cx="10058400" cy="3931920"/>
          </a:xfrm>
        </p:spPr>
        <p:txBody>
          <a:bodyPr>
            <a:noAutofit/>
          </a:bodyPr>
          <a:lstStyle/>
          <a:p>
            <a:r>
              <a:rPr lang="en-IN" sz="2000" dirty="0"/>
              <a:t>1  Algorithm </a:t>
            </a:r>
            <a:r>
              <a:rPr lang="en-IN" sz="2000" dirty="0" err="1"/>
              <a:t>GroverSearch</a:t>
            </a:r>
            <a:r>
              <a:rPr lang="en-IN" sz="2000" dirty="0"/>
              <a:t>(n, target)</a:t>
            </a:r>
          </a:p>
          <a:p>
            <a:r>
              <a:rPr lang="en-IN" sz="2000" dirty="0"/>
              <a:t>2  /*</a:t>
            </a:r>
          </a:p>
          <a:p>
            <a:r>
              <a:rPr lang="en-IN" sz="2000" dirty="0"/>
              <a:t>3  // n: number of qubits, N = 2^n items</a:t>
            </a:r>
          </a:p>
          <a:p>
            <a:r>
              <a:rPr lang="en-IN" sz="2000" dirty="0"/>
              <a:t>4  // target: index of target item (binary string)</a:t>
            </a:r>
          </a:p>
          <a:p>
            <a:r>
              <a:rPr lang="en-IN" sz="2000" dirty="0"/>
              <a:t>5  // Returns: measured index with high probability</a:t>
            </a:r>
          </a:p>
          <a:p>
            <a:r>
              <a:rPr lang="en-IN" sz="2000" dirty="0"/>
              <a:t>6  */</a:t>
            </a:r>
          </a:p>
          <a:p>
            <a:r>
              <a:rPr lang="en-IN" sz="2000" dirty="0"/>
              <a:t>7    N ← 2^n                    // total search space size</a:t>
            </a:r>
          </a:p>
          <a:p>
            <a:r>
              <a:rPr lang="en-IN" sz="2000" dirty="0"/>
              <a:t>8  r ← floor(</a:t>
            </a:r>
            <a:r>
              <a:rPr lang="el-GR" sz="2000" dirty="0"/>
              <a:t>π/4 * √</a:t>
            </a:r>
            <a:r>
              <a:rPr lang="en-IN" sz="2000" dirty="0"/>
              <a:t>N)        // optimal number of iterations</a:t>
            </a:r>
          </a:p>
          <a:p>
            <a:r>
              <a:rPr lang="en-IN" sz="2000" dirty="0"/>
              <a:t>9 </a:t>
            </a:r>
            <a:r>
              <a:rPr lang="el-GR" sz="2000" dirty="0"/>
              <a:t>ψ ← </a:t>
            </a:r>
            <a:r>
              <a:rPr lang="en-IN" sz="2000" dirty="0"/>
              <a:t>uniform superposition   // |</a:t>
            </a:r>
            <a:r>
              <a:rPr lang="el-GR" sz="2000" dirty="0"/>
              <a:t>ψ⟩ = </a:t>
            </a:r>
            <a:r>
              <a:rPr lang="en-IN" sz="2000" dirty="0"/>
              <a:t>H^⊗n |0⟩^⊗n (1/√N amplitude each)</a:t>
            </a:r>
          </a:p>
          <a:p>
            <a:r>
              <a:rPr lang="en-IN" sz="2000" dirty="0"/>
              <a:t>10  Repeat r times</a:t>
            </a:r>
          </a:p>
        </p:txBody>
      </p:sp>
    </p:spTree>
    <p:extLst>
      <p:ext uri="{BB962C8B-B14F-4D97-AF65-F5344CB8AC3E}">
        <p14:creationId xmlns:p14="http://schemas.microsoft.com/office/powerpoint/2010/main" val="193222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8C5AE6-5095-D85E-31B2-2065EA171343}"/>
              </a:ext>
            </a:extLst>
          </p:cNvPr>
          <p:cNvSpPr txBox="1"/>
          <p:nvPr/>
        </p:nvSpPr>
        <p:spPr>
          <a:xfrm>
            <a:off x="609600" y="582067"/>
            <a:ext cx="10972800" cy="5693866"/>
          </a:xfrm>
          <a:prstGeom prst="rect">
            <a:avLst/>
          </a:prstGeom>
          <a:noFill/>
        </p:spPr>
        <p:txBody>
          <a:bodyPr wrap="square" rtlCol="0">
            <a:spAutoFit/>
          </a:bodyPr>
          <a:lstStyle/>
          <a:p>
            <a:pPr marL="285750" indent="-285750">
              <a:buFont typeface="Arial" panose="020B0604020202020204" pitchFamily="34" charset="0"/>
              <a:buChar char="•"/>
            </a:pPr>
            <a:r>
              <a:rPr lang="en-IN" sz="2800" dirty="0"/>
              <a:t>11 p2 ← oracle(</a:t>
            </a:r>
            <a:r>
              <a:rPr lang="el-GR" sz="2800" dirty="0"/>
              <a:t>ψ)          // </a:t>
            </a:r>
            <a:r>
              <a:rPr lang="en-IN" sz="2800" dirty="0"/>
              <a:t>apply oracle: flip phase of target state</a:t>
            </a:r>
          </a:p>
          <a:p>
            <a:pPr marL="285750" indent="-285750">
              <a:buFont typeface="Arial" panose="020B0604020202020204" pitchFamily="34" charset="0"/>
              <a:buChar char="•"/>
            </a:pPr>
            <a:r>
              <a:rPr lang="en-IN" sz="2800" dirty="0"/>
              <a:t>12   if (p2 ≠ next) then     // p2 marks target with phase flip</a:t>
            </a:r>
          </a:p>
          <a:p>
            <a:pPr marL="285750" indent="-285750">
              <a:buFont typeface="Arial" panose="020B0604020202020204" pitchFamily="34" charset="0"/>
              <a:buChar char="•"/>
            </a:pPr>
            <a:r>
              <a:rPr lang="en-IN" sz="2800" dirty="0"/>
              <a:t>13   p3 ← diffusion(p2)   // diffusion operator: 2|s⟩⟨s| - I</a:t>
            </a:r>
          </a:p>
          <a:p>
            <a:pPr marL="285750" indent="-285750">
              <a:buFont typeface="Arial" panose="020B0604020202020204" pitchFamily="34" charset="0"/>
              <a:buChar char="•"/>
            </a:pPr>
            <a:r>
              <a:rPr lang="en-IN" sz="2800" dirty="0"/>
              <a:t>14   /*</a:t>
            </a:r>
          </a:p>
          <a:p>
            <a:pPr marL="285750" indent="-285750">
              <a:buFont typeface="Arial" panose="020B0604020202020204" pitchFamily="34" charset="0"/>
              <a:buChar char="•"/>
            </a:pPr>
            <a:r>
              <a:rPr lang="en-IN" sz="2800" dirty="0"/>
              <a:t>15   // p3 reflects about average amplitude</a:t>
            </a:r>
          </a:p>
          <a:p>
            <a:pPr marL="342900" indent="-342900">
              <a:buFont typeface="Arial" panose="020B0604020202020204" pitchFamily="34" charset="0"/>
              <a:buChar char="•"/>
            </a:pPr>
            <a:r>
              <a:rPr lang="en-IN" sz="2800" dirty="0"/>
              <a:t>16  // amplifies target probability</a:t>
            </a:r>
          </a:p>
          <a:p>
            <a:pPr marL="285750" indent="-285750">
              <a:buFont typeface="Arial" panose="020B0604020202020204" pitchFamily="34" charset="0"/>
              <a:buChar char="•"/>
            </a:pPr>
            <a:r>
              <a:rPr lang="en-IN" sz="2800" dirty="0"/>
              <a:t>17   */</a:t>
            </a:r>
          </a:p>
          <a:p>
            <a:pPr marL="285750" indent="-285750">
              <a:buFont typeface="Arial" panose="020B0604020202020204" pitchFamily="34" charset="0"/>
              <a:buChar char="•"/>
            </a:pPr>
            <a:r>
              <a:rPr lang="en-IN" sz="2800" dirty="0"/>
              <a:t>18  if (||p3|| &gt; 0) then </a:t>
            </a:r>
            <a:r>
              <a:rPr lang="el-GR" sz="2800" dirty="0"/>
              <a:t>ψ ← </a:t>
            </a:r>
            <a:r>
              <a:rPr lang="en-IN" sz="2800" dirty="0"/>
              <a:t>p3·next    // update state</a:t>
            </a:r>
          </a:p>
          <a:p>
            <a:pPr marL="285750" indent="-285750">
              <a:buFont typeface="Arial" panose="020B0604020202020204" pitchFamily="34" charset="0"/>
              <a:buChar char="•"/>
            </a:pPr>
            <a:r>
              <a:rPr lang="en-IN" sz="2800" dirty="0"/>
              <a:t>19   /*</a:t>
            </a:r>
          </a:p>
          <a:p>
            <a:pPr marL="285750" indent="-285750">
              <a:buFont typeface="Arial" panose="020B0604020202020204" pitchFamily="34" charset="0"/>
              <a:buChar char="•"/>
            </a:pPr>
            <a:r>
              <a:rPr lang="en-US" sz="2800" dirty="0"/>
              <a:t>20   // move one iteration ahead</a:t>
            </a:r>
          </a:p>
          <a:p>
            <a:pPr marL="285750" indent="-285750">
              <a:buFont typeface="Arial" panose="020B0604020202020204" pitchFamily="34" charset="0"/>
              <a:buChar char="•"/>
            </a:pPr>
            <a:r>
              <a:rPr lang="en-US" sz="2800" dirty="0"/>
              <a:t>21   */</a:t>
            </a:r>
          </a:p>
          <a:p>
            <a:pPr marL="285750" indent="-285750">
              <a:buFont typeface="Arial" panose="020B0604020202020204" pitchFamily="34" charset="0"/>
              <a:buChar char="•"/>
            </a:pPr>
            <a:r>
              <a:rPr lang="en-US" sz="2800" dirty="0"/>
              <a:t>22   else</a:t>
            </a:r>
          </a:p>
          <a:p>
            <a:pPr marL="285750" indent="-285750">
              <a:buFont typeface="Arial" panose="020B0604020202020204" pitchFamily="34" charset="0"/>
              <a:buChar char="•"/>
            </a:pPr>
            <a:r>
              <a:rPr lang="en-US" sz="2800" dirty="0"/>
              <a:t>23  temp ← area(p2→ψ, p2→x)  // compute reflection</a:t>
            </a:r>
            <a:endParaRPr lang="en-IN" sz="2800" dirty="0"/>
          </a:p>
        </p:txBody>
      </p:sp>
    </p:spTree>
    <p:extLst>
      <p:ext uri="{BB962C8B-B14F-4D97-AF65-F5344CB8AC3E}">
        <p14:creationId xmlns:p14="http://schemas.microsoft.com/office/powerpoint/2010/main" val="221785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EDA4A7-2A59-8F6A-F6B2-20A92391FD23}"/>
              </a:ext>
            </a:extLst>
          </p:cNvPr>
          <p:cNvSpPr txBox="1"/>
          <p:nvPr/>
        </p:nvSpPr>
        <p:spPr>
          <a:xfrm>
            <a:off x="595993" y="766732"/>
            <a:ext cx="11000014"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24     /*</a:t>
            </a:r>
          </a:p>
          <a:p>
            <a:pPr marL="342900" indent="-342900">
              <a:buFont typeface="Arial" panose="020B0604020202020204" pitchFamily="34" charset="0"/>
              <a:buChar char="•"/>
            </a:pPr>
            <a:r>
              <a:rPr lang="en-US" sz="2000" dirty="0"/>
              <a:t>25     / if no target marked, continue</a:t>
            </a:r>
          </a:p>
          <a:p>
            <a:pPr marL="342900" indent="-342900">
              <a:buFont typeface="Arial" panose="020B0604020202020204" pitchFamily="34" charset="0"/>
              <a:buChar char="•"/>
            </a:pPr>
            <a:r>
              <a:rPr lang="en-US" sz="2000" dirty="0"/>
              <a:t>26     */</a:t>
            </a:r>
          </a:p>
          <a:p>
            <a:pPr marL="342900" indent="-342900">
              <a:buFont typeface="Arial" panose="020B0604020202020204" pitchFamily="34" charset="0"/>
              <a:buChar char="•"/>
            </a:pPr>
            <a:r>
              <a:rPr lang="en-US" sz="2000" dirty="0"/>
              <a:t>27   end if</a:t>
            </a:r>
          </a:p>
          <a:p>
            <a:pPr marL="342900" indent="-342900">
              <a:buFont typeface="Arial" panose="020B0604020202020204" pitchFamily="34" charset="0"/>
              <a:buChar char="•"/>
            </a:pPr>
            <a:r>
              <a:rPr lang="en-US" sz="2000" dirty="0"/>
              <a:t>28     </a:t>
            </a:r>
            <a:r>
              <a:rPr lang="en-US" sz="2000" dirty="0" err="1"/>
              <a:t>prev</a:t>
            </a:r>
            <a:r>
              <a:rPr lang="en-US" sz="2000" dirty="0"/>
              <a:t> ← ψ; ψ ← next        // update pointers</a:t>
            </a:r>
          </a:p>
          <a:p>
            <a:pPr marL="342900" indent="-342900">
              <a:buFont typeface="Arial" panose="020B0604020202020204" pitchFamily="34" charset="0"/>
              <a:buChar char="•"/>
            </a:pPr>
            <a:r>
              <a:rPr lang="en-US" sz="2000" dirty="0"/>
              <a:t>29   End</a:t>
            </a:r>
          </a:p>
          <a:p>
            <a:pPr marL="342900" indent="-342900">
              <a:buFont typeface="Arial" panose="020B0604020202020204" pitchFamily="34" charset="0"/>
              <a:buChar char="•"/>
            </a:pPr>
            <a:r>
              <a:rPr lang="en-US" sz="2000" dirty="0"/>
              <a:t>30   Print </a:t>
            </a:r>
            <a:r>
              <a:rPr lang="en-US" sz="2000" dirty="0" err="1"/>
              <a:t>measured_state</a:t>
            </a:r>
            <a:r>
              <a:rPr lang="en-US" sz="2000" dirty="0"/>
              <a:t>(ψ)     // collapse to most probable state</a:t>
            </a:r>
          </a:p>
          <a:p>
            <a:pPr marL="342900" indent="-342900">
              <a:buFont typeface="Arial" panose="020B0604020202020204" pitchFamily="34" charset="0"/>
              <a:buChar char="•"/>
            </a:pPr>
            <a:r>
              <a:rPr lang="en-US" sz="2000" dirty="0"/>
              <a:t>31    End </a:t>
            </a:r>
            <a:r>
              <a:rPr lang="en-US" sz="2000" dirty="0" err="1"/>
              <a:t>GroverSearch</a:t>
            </a:r>
            <a:endParaRPr lang="en-US" sz="2000" dirty="0"/>
          </a:p>
          <a:p>
            <a:pPr marL="342900" indent="-342900">
              <a:buFont typeface="Arial" panose="020B0604020202020204" pitchFamily="34" charset="0"/>
              <a:buChar char="•"/>
            </a:pPr>
            <a:r>
              <a:rPr lang="en-US" sz="2000" dirty="0"/>
              <a:t>32  Algorithm </a:t>
            </a:r>
            <a:r>
              <a:rPr lang="en-US" sz="2000" dirty="0" err="1"/>
              <a:t>ConvexHull</a:t>
            </a:r>
            <a:r>
              <a:rPr lang="en-US" sz="2000" dirty="0"/>
              <a:t>(</a:t>
            </a:r>
            <a:r>
              <a:rPr lang="en-US" sz="2000" dirty="0" err="1"/>
              <a:t>pList</a:t>
            </a:r>
            <a:r>
              <a:rPr lang="en-US" sz="2000" dirty="0"/>
              <a:t>)</a:t>
            </a:r>
          </a:p>
          <a:p>
            <a:r>
              <a:rPr lang="en-US" sz="2000" dirty="0"/>
              <a:t>     33  /*</a:t>
            </a:r>
          </a:p>
          <a:p>
            <a:pPr marL="342900" indent="-342900">
              <a:buFont typeface="Arial" panose="020B0604020202020204" pitchFamily="34" charset="0"/>
              <a:buChar char="•"/>
            </a:pPr>
            <a:r>
              <a:rPr lang="en-US" sz="2000" dirty="0"/>
              <a:t>34 // </a:t>
            </a:r>
            <a:r>
              <a:rPr lang="en-US" sz="2000" dirty="0" err="1"/>
              <a:t>pList</a:t>
            </a:r>
            <a:r>
              <a:rPr lang="en-US" sz="2000" dirty="0"/>
              <a:t> is pointer to first node in input list</a:t>
            </a:r>
          </a:p>
          <a:p>
            <a:pPr marL="342900" indent="-342900">
              <a:buFont typeface="Arial" panose="020B0604020202020204" pitchFamily="34" charset="0"/>
              <a:buChar char="•"/>
            </a:pPr>
            <a:r>
              <a:rPr lang="en-US" sz="2000" dirty="0"/>
              <a:t>35 // Sort points according to angle made with p &amp; x-axis</a:t>
            </a:r>
          </a:p>
          <a:p>
            <a:pPr marL="342900" indent="-342900">
              <a:buFont typeface="Arial" panose="020B0604020202020204" pitchFamily="34" charset="0"/>
              <a:buChar char="•"/>
            </a:pPr>
            <a:r>
              <a:rPr lang="en-US" sz="2000" dirty="0"/>
              <a:t>36  */</a:t>
            </a:r>
          </a:p>
          <a:p>
            <a:pPr marL="342900" indent="-342900">
              <a:buFont typeface="Arial" panose="020B0604020202020204" pitchFamily="34" charset="0"/>
              <a:buChar char="•"/>
            </a:pPr>
            <a:r>
              <a:rPr lang="en-US" sz="2000" dirty="0"/>
              <a:t>37  Sort(</a:t>
            </a:r>
            <a:r>
              <a:rPr lang="en-US" sz="2000" dirty="0" err="1"/>
              <a:t>pList</a:t>
            </a:r>
            <a:r>
              <a:rPr lang="en-US" sz="2000" dirty="0"/>
              <a:t>)</a:t>
            </a:r>
          </a:p>
          <a:p>
            <a:pPr marL="342900" indent="-342900">
              <a:buFont typeface="Arial" panose="020B0604020202020204" pitchFamily="34" charset="0"/>
              <a:buChar char="•"/>
            </a:pPr>
            <a:r>
              <a:rPr lang="en-US" sz="2000" dirty="0"/>
              <a:t>38  Scan(</a:t>
            </a:r>
            <a:r>
              <a:rPr lang="en-US" sz="2000" dirty="0" err="1"/>
              <a:t>pList</a:t>
            </a:r>
            <a:r>
              <a:rPr lang="en-US" sz="2000" dirty="0"/>
              <a:t>)</a:t>
            </a:r>
          </a:p>
          <a:p>
            <a:pPr marL="342900" indent="-342900">
              <a:buFont typeface="Arial" panose="020B0604020202020204" pitchFamily="34" charset="0"/>
              <a:buChar char="•"/>
            </a:pPr>
            <a:r>
              <a:rPr lang="en-US" sz="2000" dirty="0"/>
              <a:t>39  </a:t>
            </a:r>
            <a:r>
              <a:rPr lang="en-US" sz="2000" dirty="0" err="1"/>
              <a:t>PrintList</a:t>
            </a:r>
            <a:r>
              <a:rPr lang="en-US" sz="2000" dirty="0"/>
              <a:t>(</a:t>
            </a:r>
            <a:r>
              <a:rPr lang="en-US" sz="2000" dirty="0" err="1"/>
              <a:t>pList</a:t>
            </a:r>
            <a:r>
              <a:rPr lang="en-US" sz="2000" dirty="0"/>
              <a:t>)</a:t>
            </a:r>
          </a:p>
          <a:p>
            <a:pPr marL="342900" indent="-342900">
              <a:buFont typeface="Arial" panose="020B0604020202020204" pitchFamily="34" charset="0"/>
              <a:buChar char="•"/>
            </a:pPr>
            <a:r>
              <a:rPr lang="en-US" sz="2000" dirty="0"/>
              <a:t>40 End </a:t>
            </a:r>
            <a:r>
              <a:rPr lang="en-US" sz="2000" dirty="0" err="1"/>
              <a:t>ConvexHull</a:t>
            </a:r>
            <a:endParaRPr lang="en-IN" sz="2000" dirty="0"/>
          </a:p>
        </p:txBody>
      </p:sp>
    </p:spTree>
    <p:extLst>
      <p:ext uri="{BB962C8B-B14F-4D97-AF65-F5344CB8AC3E}">
        <p14:creationId xmlns:p14="http://schemas.microsoft.com/office/powerpoint/2010/main" val="2658291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2E4-D280-3A3F-41B9-D5B2B7D96A49}"/>
              </a:ext>
            </a:extLst>
          </p:cNvPr>
          <p:cNvSpPr>
            <a:spLocks noGrp="1"/>
          </p:cNvSpPr>
          <p:nvPr>
            <p:ph type="title"/>
          </p:nvPr>
        </p:nvSpPr>
        <p:spPr>
          <a:xfrm>
            <a:off x="3891642" y="507442"/>
            <a:ext cx="8567057" cy="631035"/>
          </a:xfrm>
        </p:spPr>
        <p:txBody>
          <a:bodyPr>
            <a:normAutofit fontScale="90000"/>
          </a:bodyPr>
          <a:lstStyle/>
          <a:p>
            <a:r>
              <a:rPr lang="en-US" sz="4000" dirty="0"/>
              <a:t>ADVANTAGES</a:t>
            </a:r>
            <a:endParaRPr lang="en-IN" sz="4000" dirty="0"/>
          </a:p>
        </p:txBody>
      </p:sp>
      <p:sp>
        <p:nvSpPr>
          <p:cNvPr id="3" name="Content Placeholder 2">
            <a:extLst>
              <a:ext uri="{FF2B5EF4-FFF2-40B4-BE49-F238E27FC236}">
                <a16:creationId xmlns:a16="http://schemas.microsoft.com/office/drawing/2014/main" id="{2F5F2821-29B0-E5F9-A197-A395971A96B4}"/>
              </a:ext>
            </a:extLst>
          </p:cNvPr>
          <p:cNvSpPr>
            <a:spLocks noGrp="1"/>
          </p:cNvSpPr>
          <p:nvPr>
            <p:ph idx="1"/>
          </p:nvPr>
        </p:nvSpPr>
        <p:spPr>
          <a:xfrm>
            <a:off x="702129" y="1138477"/>
            <a:ext cx="10842171" cy="5212081"/>
          </a:xfrm>
        </p:spPr>
        <p:txBody>
          <a:bodyPr>
            <a:normAutofit/>
          </a:bodyPr>
          <a:lstStyle/>
          <a:p>
            <a:r>
              <a:rPr lang="en-US" sz="2400" dirty="0"/>
              <a:t>The primary advantage of advanced and quantum algorithms lies in their ability to significantly reduce computational complexity. Problems that would take years for classical computers to solve can potentially be completed in much shorter time using quantum approaches. For example, Grover’s algorithm reduces search time from linear complexity to square root complexity, while Shor’s algorithm transforms a previously infeasible problem into a manageable on. In healthcare, faster algorithms can accelerate drug discovery by simulating molecular interactions more efficiently. In logistics, optimization algorithms can improve route planning and resource allocation. In cybersecurity, quantum algorithms both challenge existing encryption methods and enable the development of stronger, quantum-resistant techniques. Overall, these algorithms enable more efficient decision-making and open up new possibilities across industries.</a:t>
            </a:r>
            <a:endParaRPr lang="en-IN" sz="2400" dirty="0"/>
          </a:p>
        </p:txBody>
      </p:sp>
    </p:spTree>
    <p:extLst>
      <p:ext uri="{BB962C8B-B14F-4D97-AF65-F5344CB8AC3E}">
        <p14:creationId xmlns:p14="http://schemas.microsoft.com/office/powerpoint/2010/main" val="4006085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DEA80-A012-6693-2A65-6D0D4ED75E88}"/>
              </a:ext>
            </a:extLst>
          </p:cNvPr>
          <p:cNvSpPr>
            <a:spLocks noGrp="1"/>
          </p:cNvSpPr>
          <p:nvPr>
            <p:ph type="title"/>
          </p:nvPr>
        </p:nvSpPr>
        <p:spPr>
          <a:xfrm>
            <a:off x="3826329" y="523771"/>
            <a:ext cx="7881257" cy="598377"/>
          </a:xfrm>
        </p:spPr>
        <p:txBody>
          <a:bodyPr>
            <a:normAutofit fontScale="90000"/>
          </a:bodyPr>
          <a:lstStyle/>
          <a:p>
            <a:r>
              <a:rPr lang="en-US" dirty="0"/>
              <a:t>CHALLENGES</a:t>
            </a:r>
            <a:endParaRPr lang="en-IN" dirty="0"/>
          </a:p>
        </p:txBody>
      </p:sp>
      <p:sp>
        <p:nvSpPr>
          <p:cNvPr id="3" name="Content Placeholder 2">
            <a:extLst>
              <a:ext uri="{FF2B5EF4-FFF2-40B4-BE49-F238E27FC236}">
                <a16:creationId xmlns:a16="http://schemas.microsoft.com/office/drawing/2014/main" id="{CFCF8CB2-2AAA-F2C3-9735-0FB3190830E4}"/>
              </a:ext>
            </a:extLst>
          </p:cNvPr>
          <p:cNvSpPr>
            <a:spLocks noGrp="1"/>
          </p:cNvSpPr>
          <p:nvPr>
            <p:ph idx="1"/>
          </p:nvPr>
        </p:nvSpPr>
        <p:spPr>
          <a:xfrm>
            <a:off x="571500" y="1122149"/>
            <a:ext cx="11136086" cy="5212080"/>
          </a:xfrm>
        </p:spPr>
        <p:txBody>
          <a:bodyPr>
            <a:normAutofit lnSpcReduction="10000"/>
          </a:bodyPr>
          <a:lstStyle/>
          <a:p>
            <a:r>
              <a:rPr lang="en-US" sz="2800" dirty="0"/>
              <a:t>Despite their potential, quantum and advanced algorithms face several challenges. Quantum systems are highly sensitive to environmental disturbances, leading to errors and loss of information (decoherence). The number of available qubits is still limited, restricting the complexity of problems that can be solved.</a:t>
            </a:r>
          </a:p>
          <a:p>
            <a:r>
              <a:rPr lang="en-US" sz="2800" dirty="0"/>
              <a:t>From a practical perspective, quantum hardware is expensive and not widely accessible. Developing quantum algorithms also requires specialized knowledge of both computer science and quantum physics, creating a steep learning curve. Furthermore, integrating quantum systems with existing classical infrastructure presents additional technical challenges.</a:t>
            </a:r>
            <a:endParaRPr lang="en-IN" sz="2800" dirty="0"/>
          </a:p>
        </p:txBody>
      </p:sp>
    </p:spTree>
    <p:extLst>
      <p:ext uri="{BB962C8B-B14F-4D97-AF65-F5344CB8AC3E}">
        <p14:creationId xmlns:p14="http://schemas.microsoft.com/office/powerpoint/2010/main" val="383425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5C5E0-6A39-53C1-E6AB-F20FD41448D2}"/>
              </a:ext>
            </a:extLst>
          </p:cNvPr>
          <p:cNvSpPr>
            <a:spLocks noGrp="1"/>
          </p:cNvSpPr>
          <p:nvPr>
            <p:ph type="title"/>
          </p:nvPr>
        </p:nvSpPr>
        <p:spPr>
          <a:xfrm>
            <a:off x="2639786" y="594865"/>
            <a:ext cx="8648700" cy="663692"/>
          </a:xfrm>
        </p:spPr>
        <p:txBody>
          <a:bodyPr>
            <a:normAutofit fontScale="90000"/>
          </a:bodyPr>
          <a:lstStyle/>
          <a:p>
            <a:r>
              <a:rPr lang="en-US" dirty="0"/>
              <a:t>LEARNING OUTCOMES</a:t>
            </a:r>
            <a:endParaRPr lang="en-IN" dirty="0"/>
          </a:p>
        </p:txBody>
      </p:sp>
      <p:sp>
        <p:nvSpPr>
          <p:cNvPr id="3" name="Content Placeholder 2">
            <a:extLst>
              <a:ext uri="{FF2B5EF4-FFF2-40B4-BE49-F238E27FC236}">
                <a16:creationId xmlns:a16="http://schemas.microsoft.com/office/drawing/2014/main" id="{3EBEF684-56F5-9DFD-9745-B9C05556A145}"/>
              </a:ext>
            </a:extLst>
          </p:cNvPr>
          <p:cNvSpPr>
            <a:spLocks noGrp="1"/>
          </p:cNvSpPr>
          <p:nvPr>
            <p:ph idx="1"/>
          </p:nvPr>
        </p:nvSpPr>
        <p:spPr>
          <a:xfrm>
            <a:off x="702128" y="1371600"/>
            <a:ext cx="11185072" cy="5370843"/>
          </a:xfrm>
        </p:spPr>
        <p:txBody>
          <a:bodyPr/>
          <a:lstStyle/>
          <a:p>
            <a:r>
              <a:rPr lang="en-US" sz="2800" dirty="0"/>
              <a:t>Studying the future of algorithm design provides valuable insights into both theoretical and practical aspects of computing. It helps in understanding the limitations of classical algorithms and the potential of quantum approaches.</a:t>
            </a:r>
          </a:p>
          <a:p>
            <a:r>
              <a:rPr lang="en-US" sz="2800" dirty="0"/>
              <a:t> Learners gain knowledge of advanced problem-solving techniques, computational complexity, and emerging technologies. </a:t>
            </a:r>
          </a:p>
          <a:p>
            <a:r>
              <a:rPr lang="en-US" sz="2800" dirty="0"/>
              <a:t>This knowledge is essential for developing innovative solutions in fields such as artificial intelligence, data science, and cybersecurity</a:t>
            </a:r>
            <a:r>
              <a:rPr lang="en-US" dirty="0"/>
              <a:t>.</a:t>
            </a:r>
            <a:endParaRPr lang="en-IN" dirty="0"/>
          </a:p>
        </p:txBody>
      </p:sp>
    </p:spTree>
    <p:extLst>
      <p:ext uri="{BB962C8B-B14F-4D97-AF65-F5344CB8AC3E}">
        <p14:creationId xmlns:p14="http://schemas.microsoft.com/office/powerpoint/2010/main" val="2595637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14FB-4235-C731-6C2C-8525DA30A03B}"/>
              </a:ext>
            </a:extLst>
          </p:cNvPr>
          <p:cNvSpPr>
            <a:spLocks noGrp="1"/>
          </p:cNvSpPr>
          <p:nvPr>
            <p:ph type="title"/>
          </p:nvPr>
        </p:nvSpPr>
        <p:spPr>
          <a:xfrm>
            <a:off x="1899557" y="544623"/>
            <a:ext cx="9399814" cy="826977"/>
          </a:xfrm>
        </p:spPr>
        <p:txBody>
          <a:bodyPr/>
          <a:lstStyle/>
          <a:p>
            <a:r>
              <a:rPr lang="en-US" dirty="0"/>
              <a:t>FUTURE ENHANCEMENT’S</a:t>
            </a:r>
            <a:endParaRPr lang="en-IN" dirty="0"/>
          </a:p>
        </p:txBody>
      </p:sp>
      <p:sp>
        <p:nvSpPr>
          <p:cNvPr id="3" name="Content Placeholder 2">
            <a:extLst>
              <a:ext uri="{FF2B5EF4-FFF2-40B4-BE49-F238E27FC236}">
                <a16:creationId xmlns:a16="http://schemas.microsoft.com/office/drawing/2014/main" id="{EE75E36B-BC6F-9478-3842-FA4701F47F12}"/>
              </a:ext>
            </a:extLst>
          </p:cNvPr>
          <p:cNvSpPr>
            <a:spLocks noGrp="1"/>
          </p:cNvSpPr>
          <p:nvPr>
            <p:ph idx="1"/>
          </p:nvPr>
        </p:nvSpPr>
        <p:spPr>
          <a:xfrm>
            <a:off x="1066800" y="1502228"/>
            <a:ext cx="10058400" cy="4663440"/>
          </a:xfrm>
        </p:spPr>
        <p:txBody>
          <a:bodyPr>
            <a:normAutofit lnSpcReduction="10000"/>
          </a:bodyPr>
          <a:lstStyle/>
          <a:p>
            <a:r>
              <a:rPr lang="en-US" sz="2400" dirty="0"/>
              <a:t>The future of algorithm design is closely tied to advancements in quantum hardware and software. Researchers are working on developing more stable and scalable quantum systems, as well as improving error correction techniques. </a:t>
            </a:r>
          </a:p>
          <a:p>
            <a:r>
              <a:rPr lang="en-US" sz="2400" dirty="0"/>
              <a:t>Hybrid algorithms that combine classical and quantum approaches are expected to become more common. In addition, the integration of artificial intelligence with algorithm design will lead to more adaptive and efficient systems. </a:t>
            </a:r>
          </a:p>
          <a:p>
            <a:r>
              <a:rPr lang="en-US" sz="2400" dirty="0"/>
              <a:t>Cloud-based quantum platforms are also making these technologies more accessible, enabling wider experimentation and development. As these advancements continue, algorithm design will become more powerful and versatile.</a:t>
            </a:r>
            <a:endParaRPr lang="en-IN" sz="2400" dirty="0"/>
          </a:p>
        </p:txBody>
      </p:sp>
    </p:spTree>
    <p:extLst>
      <p:ext uri="{BB962C8B-B14F-4D97-AF65-F5344CB8AC3E}">
        <p14:creationId xmlns:p14="http://schemas.microsoft.com/office/powerpoint/2010/main" val="159340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C89C-155B-5D70-032D-46610D99F058}"/>
              </a:ext>
            </a:extLst>
          </p:cNvPr>
          <p:cNvSpPr>
            <a:spLocks noGrp="1"/>
          </p:cNvSpPr>
          <p:nvPr>
            <p:ph type="title"/>
          </p:nvPr>
        </p:nvSpPr>
        <p:spPr>
          <a:xfrm>
            <a:off x="3516086" y="462980"/>
            <a:ext cx="10058400" cy="1371600"/>
          </a:xfrm>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C332D5FF-B21A-10C5-981A-FEEBF787FAE2}"/>
              </a:ext>
            </a:extLst>
          </p:cNvPr>
          <p:cNvSpPr>
            <a:spLocks noGrp="1"/>
          </p:cNvSpPr>
          <p:nvPr>
            <p:ph idx="1"/>
          </p:nvPr>
        </p:nvSpPr>
        <p:spPr>
          <a:xfrm>
            <a:off x="1066800" y="1694906"/>
            <a:ext cx="10058400" cy="3931920"/>
          </a:xfrm>
        </p:spPr>
        <p:txBody>
          <a:bodyPr>
            <a:normAutofit/>
          </a:bodyPr>
          <a:lstStyle/>
          <a:p>
            <a:r>
              <a:rPr lang="en-US" sz="2400" dirty="0"/>
              <a:t>The future of algorithm design lies in the integration of classical and quantum computing techniques. While classical algorithms will continue to play a vital role, quantum algorithms offer groundbreaking improvements for solving complex problems. Although there are significant challenges to overcome, ongoing research and technological advancements are paving the way for practical applications. The combination of advanced algorithms and quantum computing will redefine the limits of computation, enabling faster, more efficient, and more intelligent systems.</a:t>
            </a:r>
            <a:endParaRPr lang="en-IN" sz="2400" dirty="0"/>
          </a:p>
        </p:txBody>
      </p:sp>
    </p:spTree>
    <p:extLst>
      <p:ext uri="{BB962C8B-B14F-4D97-AF65-F5344CB8AC3E}">
        <p14:creationId xmlns:p14="http://schemas.microsoft.com/office/powerpoint/2010/main" val="28779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2299B-0D2A-417D-9D80-58465D673595}"/>
              </a:ext>
            </a:extLst>
          </p:cNvPr>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22192420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84</TotalTime>
  <Words>1349</Words>
  <Application>Microsoft Office PowerPoint</Application>
  <PresentationFormat>Widescreen</PresentationFormat>
  <Paragraphs>73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Schoolbook</vt:lpstr>
      <vt:lpstr>Savon</vt:lpstr>
      <vt:lpstr>Quantum computing and advanced algorithms </vt:lpstr>
      <vt:lpstr>ABSTRACT</vt:lpstr>
      <vt:lpstr>INTRODUCTION</vt:lpstr>
      <vt:lpstr>PROBLEM STATEMENT</vt:lpstr>
      <vt:lpstr>ALGORITHM USED </vt:lpstr>
      <vt:lpstr>Grover’s Algorithm </vt:lpstr>
      <vt:lpstr>PowerPoint Presentation</vt:lpstr>
      <vt:lpstr>PowerPoint Presentation</vt:lpstr>
      <vt:lpstr>ADVANTAGES</vt:lpstr>
      <vt:lpstr>CHALLENGES</vt:lpstr>
      <vt:lpstr>LEARNING OUTCOMES</vt:lpstr>
      <vt:lpstr>FUTURE ENHANCEMENT’S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preetha ileen</dc:creator>
  <cp:lastModifiedBy>preetha ileen</cp:lastModifiedBy>
  <cp:revision>1</cp:revision>
  <dcterms:created xsi:type="dcterms:W3CDTF">2026-04-01T14:03:13Z</dcterms:created>
  <dcterms:modified xsi:type="dcterms:W3CDTF">2026-04-01T15:27:32Z</dcterms:modified>
</cp:coreProperties>
</file>